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AERODRONE AI // AUTONOMOUS QUADCOPTER SIMULATION</a:t>
            </a:r>
          </a:p>
          <a:p>
            <a:pPr algn="ctr">
              <a:spcAft>
                <a:spcPts val="2500"/>
              </a:spcAft>
              <a:defRPr sz="1300">
                <a:solidFill>
                  <a:srgbClr val="C5A059"/>
                </a:solidFill>
              </a:defRPr>
            </a:pPr>
            <a:r>
              <a:t>Adaptive Neural Obstacle Avoidance with Synaptic Plasticity &amp; Arduino Flight Control</a:t>
            </a:r>
          </a:p>
          <a:p>
            <a:pPr algn="ctr">
              <a:defRPr sz="950">
                <a:solidFill>
                  <a:srgbClr val="E2E8F0"/>
                </a:solidFill>
              </a:defRPr>
            </a:pPr>
            <a:r>
              <a:t>Based on IEEE Research: Arne Devos, Emad Ebeid, Poramate Manoonpong (2018)</a:t>
            </a:r>
            <a:br/>
            <a:r>
              <a:t>'Development of Autonomous Drones for Adaptive Obstacle Avoidance in Real World Environments'</a:t>
            </a:r>
            <a:br/>
            <a:r>
              <a:t>21st Euromicro Conference on Digital System Design (DSD), DOI: 10.1109/DSD.2018.00009</a:t>
            </a:r>
            <a:br/>
            <a:r>
              <a:t>Theoretical Foundation: Pedersen &amp; Manoonpong (2018), LNAI (Two-Neuron RNN &amp; Synaptic Plasticity)</a:t>
            </a:r>
            <a:br/>
            <a:r>
              <a:t>Implementation: 3D WebGL Simulation, 6-DOF Physics, Arduino C++ HITL Firmware, Human-in-the-Loop Decision 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PROJECT MOTIVATION &amp; PROBLEM DEFINITION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The Autonomous Drone Navigation Dilemma in Unknown 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THE PROBLEM: VISION &amp; SLAM COMPLEXITY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Quadcopters operating in GPS-denied, cluttered spaces must navigate without human pilots.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Environments contain unmapped obstacles, narrow passages, sharp corners, and dead-ends.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Traditional solutions use Visual SLAM, deep CNNs, or heavy spinning 360° LiDARs.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Heavy GPU compute platforms drain battery power and drastically shorten flight time.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SLAM mapping easily fails in featureless, repetitive, or reflective indoor tunnels.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THE SOLUTION: ADAPTIVE NEURAL CONTROL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Replaces heavy vision pipelines with an ultra-lightweight 2-neuron recurrent neural network.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Operates on ONLY two narrow-beam (2°) LiDAR sensors mounted at front of frame.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Short-Term Memory (STM): Retains turn command after obstacle exits laser field of view.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Synaptic Plasticity: Adapts weights online to escape tight deadlocks and corners.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Platform: Interactive 3D simulation, 6-DOF physics, and Arduino C++ HITL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BASE PAPER METHODOLOGY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Closed-Loop Neural Control Architecture (Devos et al. 2018)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METHODOLOGY &amp; CLOSED-LOOP FLOW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Published in IEEE 21st Euromicro Conference on Digital System Design (DSD 2018).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Dual Garmin LIDAR-Lite v3 sensors measure obstacle range at 50 Hz.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Raw distance normalized to [-1.0, +1.0] sensory inputs S_L and S_R.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Discrete-time 2-neuron RNN with non-spiking tanh activation computes states O1, O2.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Correlation plasticity modifies weights online based on sensor reflexes.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Differential output generates yaw steering commanded to Pixhawk / Arduino via MAVLink.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PHYSICAL HARDWARE SYSTEM SPECIFICATIONS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Frame: Tarot 650 Sport carbon-fiber quadcopter frame.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Propulsion: 370 KV BLDC motors, 14" carbon props, 40A ESCs.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Battery: 6S 22.2V 8000 mAh LiPo (25-minute flight endurance).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Autopilot: Pixhawk 2 with 3D gyro, accelerometer, barometer, and PID loops.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Companion SBC: Raspberry Pi Zero executing Python neural navigation.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Distance Sensors: 2x Garmin LIDAR-Lite v3 (I2C interface, 2° beam).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Protocol: MAVLink / MAVProxy / DroneKit serial command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MATHEMATICAL FOUNDATIONS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LiDAR Geometry &amp; Minimum Detectable Obstacle Width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EQUATION (1) &amp; GEOMETRIC FORMULATION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To guarantee safety, minimum detectable obstacle width W_obj is governed by Equation (1):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W_obj ≥ 2 · tan(Θ / 2) · [ Lx + (Ld / 2) ]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Θ (LiDAR Separation Angle): 40° total angle (±20° relative to forward axis).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Lx (Safe Turning Distance): 0.15 m (15 cm) turning threshold.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Ld (Quadcopter Frame Width): 0.34 m (34 cm) rotor-to-rotor span.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Lm (Rotor Safety Margin): 0.06 m (6 cm) propeller clearance.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Ls (Max LiDAR Range): 0.50 m (50 cm) active detection horizon.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ANALYTICAL DERIVATION &amp; SAFETY GUARANTEES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Evaluating Equation (1) with base paper parameters: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tan(20°) ≈ 0.36397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Lx + (Ld / 2) = 0.15 + 0.17 = 0.32 m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W_obj ≥ 2 · 0.36397 · 0.32 m = 0.2329 m ≈ 24 cm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Any obstacle ≥ 24 cm is guaranteed to be detected before drone is within 15 cm.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All obstacles across our scenarios have widths ≥ 24 cm matching paper rigor.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Minimum Clearance Boundary: Lm + Ld/2 = 0.23 m (rotor collision threshold).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SENSORY PROCESSING PIPELINE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LiDAR Range Normalization &amp; Sensory Input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NORMALIZATION EQUATION &amp; TRANSFER FUNCTION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Raw distance readings d_L, d_R mapped into bipolar normalized signals: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S_i = clip( [ 2 · (d_max - d_i) / (d_max - d_min) ] - 1.0, -1.0, 1.0 )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d_max = 0.50 m (sensing range Ls); d_min = 0.15 m (critical turning dist Lx).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S_i = -1.0: Clear airspace (d_i ≥ 0.50 m), zero reflex excitation.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S_i = 0.0: Transition boundary (d_i = 0.325 m), reflex begins activating.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S_i = +1.0: Critical proximity (d_i ≤ 0.15 m), maximum excitatory turning drive.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DUAL SENSOR ARRANGEMENT &amp; 3D EXPANSION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Left LiDAR (S_L): Oriented at +20° azimuth relative to drone heading.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Right LiDAR (S_R): Oriented at -20° azimuth relative to drone heading.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Narrow 2° beam eliminates ground bounce and multipath interference.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3D Simulation Expansion: Adds 8 planar radial raycast beams (0° to 315°)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plus vertical ceiling and ground laser sensors.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Feeds multi-directional clearance telemetry to Human-in-the-Loop decision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BIO-INSPIRED NEURAL CONTROL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Two-Neuron Recurrent Network with Mutual Inhibition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RECURRENT STATE UPDATE EQUATIONS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Discrete-time non-spiking neural equations with tanh activation: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O_1(t) = tanh( b_1(t)·O_1(t-1) + c(t)·O_2(t-1) + I_g·S_L(t) 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O_2(t) = tanh( b_2(t)·O_2(t-1) + c(t)·O_1(t-1) + I_g·S_R(t) 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O_1, O_2 ∈ (-1.0, 1.0): Left and Right neuron activation states.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O_1(t-1), O_2(t-1): Prior activations providing Short-Term Memory.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b_1, b_2 ∈ [0.1, 8.0]: Self-excitatory recurrent synapses (baseline = 2.40).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c(t) = -0.5 · [ q_1(t) + q_2(t) ]: Mutual inhibitory cross-coupling (baseline = -3.50).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I_g = 4.7: Sensory input gain scaling LiDAR inputs.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NEURAL COMPETITION &amp; EFFICIENCY ADVANTAGES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Left obstacle stimulates S_L ==&gt; O_1 excites, cross-inhibits O_2 ==&gt; Sharp Right turn.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Right obstacle stimulates S_R ==&gt; O_2 excites, cross-inhibits O_1 ==&gt; Sharp Left turn.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Symmetrical inputs broken instantly by historical turning bias and memory.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Only 4 adaptable synaptic weights vs millions in modern deep learning models.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Sub-microsecond execution time on microcontroller platforms.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Requires zero pre-training: operates completely online in closed-loop.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ONLINE ADAPTATION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Correlation Plasticity &amp; Synaptic Scaling for Deadlock Escape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THE DEADLOCK PROBLEM &amp; PLASTICITY EQUATIONS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In corners and deadlocks, turning sweeps the obstacle out of narrow 2° LiDAR beams.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Without plasticity, the drone stops turning too early and collides with walls.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Online Correlation Plasticity (Pedersen &amp; Manoonpong 2018):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v_i(t) = clip( [ O_i(t) + 1 ] / 2, 0.0, 1.0 )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reflex_i(t) = 1.0 if S_i(t) &gt; -0.5 else 0.0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Δb_i = κ·Δt · [ μ_b·v_i(t-1)·v_i(t)·reflex_i + γ_b·(k - v_i)·b_i² ]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Δq_i = κ·Δt · [ μ_q·v_i(t-1)·v_i(t)·reflex_i + γ_q·(k - v_i)·q_i²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HYPERPARAMETERS &amp; DUAL-PHASE ADAPTATION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Scaling rate κ = 27.0; Learning rates μ_b = 0.0065, μ_q = 0.015.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Homeostatic decay rates γ_b = 0.0003, γ_q = 0.0003; Target baseline k = -0.01.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Hebbian Potentiation (1st term): Increases b_i and q_i during reflex, prolonging memory.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Homeostatic Scaling (2nd term): Relaxes weights to baseline in open air.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Enables drone to complete 90° and 180° turns without getting stuck in corners.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Base Paper Result: 90% to 100% autonomous escape success in complex deadlocks.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FLIGHT DYNAMICS &amp; CONTROL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Yaw Steering Calculation &amp; Proximity Velocity Regulation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YAW RATE COMMAND GENERATION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Steering command is calculated from neural differential: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steering(t) = 0.5 · [ O_1(t) - O_2(t) ]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ψ̇_cmd(t) = -k_turn · steering(t)  (k_turn = 1.35 rad/s)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Left Obstacle (S_L &gt; S_R): steering &gt; 0 ==&gt; ψ̇_cmd &lt; 0 (Turn Right).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Right Obstacle (S_R &gt; S_L): steering &lt; 0 ==&gt; ψ̇_cmd &gt; 0 (Turn Left).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Proportional turning speed enables smooth evasive bank angles.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VELOCITY REGULATION &amp; FLIGHT DYNAMICS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Forward velocity throttles down when approaching obstacles: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V_f = 0.00 m/s if S_L &gt; 0.55 and S_R &gt; 0.55 (Head-on Deadlock)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V_f = 0.025 m/s if max(S_L, S_R) &gt; 0.25 (Very Close)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V_f = 0.055 m/s if max(S_L, S_R) &gt; -0.15 (Approaching)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V_f = 0.10 m/s otherwise (Nominal Forward Cruise)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6-DOF physics models drag, lift, rotor inertia, and coordinated turns.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Velocity throttling ensures turn radius fits within available clearance.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EMBEDDED HARDWARE &amp; FIRMWARE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Tarot 650 Quadcopter &amp; Arduino Flight Controller Firmware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ARDUINO C++ FIRMWARE FEATURES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Included firmware: arduino/arduino_flight_controller.ino for Mega 2560 / Uno / ESP32.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4-Channel ESC PWM pulse generation (D5, D6, D9, D10) at 50 Hz.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Dual ultrasonic / LiDAR distance sampling matching base paper timing.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Cascaded PID flight stabilization: Inner rate PID + Outer angle PID.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X-quadcopter motor mixing matrix (Roll, Pitch, Yaw, Throttle).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Safety failsafe: Disarms motors on communication timeout or emergency stop.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HITL/SITL SERIAL PROTOCOL &amp; DUAL MODES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Bidirectional ASCII telemetry: $TELEM, dL, dR, roll, pitch, yaw, armed, estop.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Hardware-in-the-Loop (HITL): Connects physical Arduino via USB serial COM port.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Software-in-the-Loop (SITL): Simulates Arduino firmware transparently when unplugged.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Physical airframe: Tarot 650 Sport, 370 KV motors, 14" stiff props, 40A ESCs, 6S LiPo.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Companion bridge: serial_bridge.py handles UART communications at 115200 baud.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OPERATOR INTERACTION &amp; SAFETY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Human-in-the-Loop (HITL) Obstacle Avoidance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7-STAGE DECISION PIPELINE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Cruising: Quadcopter cruises forward at 0.10 m/s at Z = 1.0 m hover altitude.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Detection: Sensor detects obstacle within 0.50 m threshold.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Simulation Pause: Simulation clock halts forward progression automatically.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Safe Hover: Quadcopter holds stable hover in WAITING_FOR_USER state.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Safety Audit: Evaluates clearance across all 10 candidate evasion directions.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Operator Choice: User clicks direction or presses hotkey (W, A, S, D, Q, E, etc.).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Execution &amp; Logging: Drone executes maneuver, updates trajectory, and logs trial.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SAFETY AUDIT &amp; RESEARCH OVERRIDE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RECOMMENDED: Optimal base-paper neural evasion direction (Green).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SAFE: Clearance &gt; 0.50 m, open airspace.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CAUTION: Clearance 0.23 m - 0.50 m, restricted corridor.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BLOCKED: Clearance &lt; 0.23 m (rotor collision threshold). Blocked by default.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Research Override Switch: Enables operators to test unsafe decisions deliberately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  to inspect collision physics and damage telemetry for comparative research.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FULL-STACK DASHBOARD ARCHITECTURE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Interactive 3D Simulation &amp; Real-Time Telemetry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3D VIEWPORT &amp; VISUALIZATION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Web dashboard running on http://localhost:8080 with Three.js WebGL.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Realistic Tarot 650 quadcopter model with spinning rotors and status LEDs.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Real-time LiDAR laser beams with impact hit markers (Green/Yellow/Red).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Continuous 3D flight trajectory ribbon tracing evasion paths.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4 Camera Modes: Chase Drone, Free Orbit, Tactical Top-Down, FPV Nose Cam.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CONTROLS, HOTKEYS &amp; TELEMETRY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10 Direction Buttons: Forward, Backward, Left, Right, Up, Down, 4 Diagonals.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Full Keyboard Shortcuts: W/A/S/D, Q/E/Z/C, R/F, Space (Start/Pause), Enter, Esc.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Dual Pilot Modes: Instant switch between Autonomous Devos (2018) and Manual Pilot.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Live Telemetry HUD: Altitude, Airspeed, Yaw Heading, Clearance meters.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Neural Network Monitor: Real-time values of O1, O2, b1, b2, q1, q2, and plasticity.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Speed Multipliers: 0.5x, 1.0x, 2.0x, 5.0x simulation clock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VALIDATION ENVIRONMENTS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Comprehensive 13-Scenario Obstacle Avoidance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DIRECTIONAL &amp; GEOMETRIC TEST SUITE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1. front_obstacle: Front pillar; lateral evasion.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2. right_obstacle: Right flank wall; leftward evasion.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3. left_obstacle: Left flank barrier; rightward evasion.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4. rear_obstacle: Reverse threat; forward braking.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5. above_obstacle: Overhead bridge; vertical descent.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6. below_obstacle: Raised platform; vertical climb.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7. both_sides: Lateral pinch; reverse/vertical escape.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DIAGONAL, CLUSTER &amp; MAZE SCENARIOS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8. front_left: 45° diagonal threat; front-right evasion.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9. front_right: -45° diagonal threat; front-left evasion.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10. rear_diagonal: Rear diagonal quadrant threats.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11. multiple_obstacles: Dense field of 7 pillars and boxes.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12. paper_env2_maze: Devos et al. Fig 5(b) Complex Maze.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13. clear_flight: Open airspace baseline.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Note: Narrow corridor, moving obstacle, and env 1 removed per user request.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ACADEMIC INTEGRITY &amp; RIGOR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Distinction Between Base Paper Ground Truth &amp; Simulation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BASE PAPER SPECIFICATIONS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Dual front LiDARs in 2D horizontal plane.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Continuous autonomous reactive closed-loop control.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Yaw steering only (Turn Left / Right).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V-REP robotics simulator with C++ ROS bridge.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Pixhawk 2 + Raspberry Pi Zero companion SBC.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2 static test environments (Room &amp; Maze).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Qualitative trajectory observation.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SIMULATION PLATFORM IMPLEMENTATION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Exact dual front LiDARs + 8 radial raycasters + Up/Down 3D sensors.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Interactive Human-in-the-Loop decision gate with safe hover and safety audit.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10 directional degrees of freedom (horizontal, vertical, diagonal).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6-DOF Quadcopter Physics + Three.js 3D WebGL Dashboard at 30 Hz.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Python neural controller + Arduino C++ firmware with SITL/HITL.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13 scenarios covering all spatial threat angles.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Real-time automated logging with one-click export to CSV and JSON.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EXPERIMENTAL EVALUATION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Telemetry Logging, Experiment Analytics &amp; Performance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DATA COLLECTION &amp; LOGGING SCHEMA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Every trial records Trial ID, Scenario ID, and initial/final positions.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Captures full sensory snapshot at detection trigger moment.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Logs available safe directions, user selection, and override status.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Measures human/controller response time latency (seconds).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Measures minimum obstacle clearance throughout entire evasion path.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Records trial outcome: SUCCESS, COLLISION, or TIMEOUT.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QUANTITATIVE METRICS &amp; BENCHMARKS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Success Rate (%): Percentage of trials avoided without collision.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Collision Rate (%): Impact occurrences during research override testing.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Mean Response Time (s): Average operator decision latency.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Minimum Clearance (m): Closest point of approach during maneuver.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Base Paper Benchmark: 100% low density, 90% high density, 90% deadlocks.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Instant Data Export: Downloadable CSV (/api/logs/csv) and JSON (/api/logs/json).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SOFTWARE ARCHITECTURE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Directory Structure, Codebase Modules &amp; Automated Test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PROJECT DIRECTORY &amp; MODULES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main.py: aiohttp async web server, 30 Hz physics loop, WebSocket hub.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simulation/: drone_physics.py, scenarios.py, experiment_logger.py.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avoidance/: neural_controller.py (RNN + plasticity), decision_engine.py.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sensors/: lidar_sensor.py (dual front LiDAR + 3D raycasting).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dashboard/: index.html, style.css, three_sim.js, app.js.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arduino/: arduino_flight_controller.ino, serial_bridge.py.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scenarios/: 13 JSON scenario definition files.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tests/: Comprehensive automated pytest unit test suite.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AUTOMATED UNIT TESTING &amp; VERIFICATION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test_avoidance.py (7 tests): Normalization bounds, tanh neuron states, steering signs, synaptic plasticity adaptation, and HITL state machine.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test_physics.py (4 tests): 2D circle/box intersection math, 6-DOF translation dynamics, and collision boundary detection.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test_scenarios.py (3 tests): Library completeness, CSV/JSON logging, and steps through all 13 scenarios with 0 collisions.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Execution: python -m pytest tests/ ==&gt; 14/14 tests pass.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Live Server: http://localhost:8080/ (running continuously in background).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5A059"/>
                </a:solidFill>
              </a:defRPr>
            </a:pPr>
            <a:r>
              <a:t>CONCLUSIONS &amp; OUTLOOK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Summary of Achievements, Research Impact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84124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Autonomous Quadcopter Obstacle Avoidance Simulation  |  Devos et al. (2018) IEEE DSD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SUMMARY OF CONTRIBUTIONS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Faithful Research Reproduction: Implemented equations, parameters, and RNN dynamics from Devos et al. (2018) and Pedersen &amp; Manoonpong (2018).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Ultra-Low Compute Footprint: Proved deadlocks are resolved using only 2 neurons, 4 weights, and dual lightweight LiDARs.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Validated Geometric Bounds: Verified Equation (1) with W_obj ≥ 24 cm for 15 cm turning thresholds.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Interactive Human-in-the-Loop Platform: Combined autonomous neural control with operator decision verification.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Hardware-Ready Arduino Firmware: Provided complete C++ flight controller code and SITL/HITL bridge.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777240"/>
            <a:ext cx="4069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86968"/>
            <a:ext cx="37947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B365D"/>
                </a:solidFill>
              </a:defRPr>
            </a:pPr>
            <a:r>
              <a:t>FUTURE WORK &amp; PROJECT ACCESS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Physical flight validation on Tarot 650 quadcopter in real-world tunnels.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ROS 2 Humble micro-XRCE-DDS integration for multi-agent swarm coordination.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Dynamic obstacle trajectory prediction in non-stationary environments.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Distributed neural consensus among quadcopters in shared corridors.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Live Simulation Link: http://localhost:8080/</a:t>
            </a:r>
          </a:p>
          <a:p>
            <a:pPr>
              <a:spcAft>
                <a:spcPts val="350"/>
              </a:spcAft>
              <a:defRPr sz="800">
                <a:solidFill>
                  <a:srgbClr val="0F172A"/>
                </a:solidFill>
              </a:defRPr>
            </a:pPr>
            <a:r>
              <a:t>• 13 active scenarios, full keyboard controls, and real-time telemetry logging.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